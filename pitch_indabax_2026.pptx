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6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Feuille_de_calcul_Microsoft_Excel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fr-FR" sz="1200" b="0" i="0" u="none" strike="noStrike">
                <a:solidFill>
                  <a:srgbClr val="1A1A2E"/>
                </a:solidFill>
                <a:latin typeface="Arial"/>
              </a:rPr>
              <a:t>R² par modèle (test 2025)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95A5A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9DA-45AF-88FF-296DCA530DBB}"/>
              </c:ext>
            </c:extLst>
          </c:dPt>
          <c:dPt>
            <c:idx val="1"/>
            <c:invertIfNegative val="0"/>
            <c:bubble3D val="0"/>
            <c:spPr>
              <a:solidFill>
                <a:srgbClr val="1B43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9DA-45AF-88FF-296DCA530DBB}"/>
              </c:ext>
            </c:extLst>
          </c:dPt>
          <c:dPt>
            <c:idx val="2"/>
            <c:invertIfNegative val="0"/>
            <c:bubble3D val="0"/>
            <c:spPr>
              <a:solidFill>
                <a:srgbClr val="2D6A4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9DA-45AF-88FF-296DCA530DBB}"/>
              </c:ext>
            </c:extLst>
          </c:dPt>
          <c:dPt>
            <c:idx val="3"/>
            <c:invertIfNegative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9DA-45AF-88FF-296DCA530DBB}"/>
              </c:ext>
            </c:extLst>
          </c:dPt>
          <c:cat>
            <c:strRef>
              <c:f>Sheet1!$A$2:$A$5</c:f>
              <c:strCache>
                <c:ptCount val="4"/>
                <c:pt idx="0">
                  <c:v>Ridge</c:v>
                </c:pt>
                <c:pt idx="1">
                  <c:v>LightGBM</c:v>
                </c:pt>
                <c:pt idx="2">
                  <c:v>XGBoost</c:v>
                </c:pt>
                <c:pt idx="3">
                  <c:v>MLP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0.62</c:v>
                </c:pt>
                <c:pt idx="1">
                  <c:v>0.86</c:v>
                </c:pt>
                <c:pt idx="2">
                  <c:v>0.84</c:v>
                </c:pt>
                <c:pt idx="3">
                  <c:v>0.73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9DA-45AF-88FF-296DCA530D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327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0"/>
            <a:ext cx="2286000" cy="5143500"/>
          </a:xfrm>
          <a:prstGeom prst="rect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772400" y="0"/>
            <a:ext cx="1371600" cy="5143500"/>
          </a:xfrm>
          <a:prstGeom prst="rect">
            <a:avLst/>
          </a:prstGeom>
          <a:solidFill>
            <a:srgbClr val="40916C">
              <a:alpha val="50000"/>
            </a:srgbClr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64008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6858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 err="1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Hackaton-Indabax</a:t>
            </a:r>
            <a:r>
              <a:rPr lang="en-US" sz="42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-</a:t>
            </a:r>
            <a:r>
              <a:rPr lang="en-US" sz="4200" b="1" dirty="0" smtClean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Cameroun-2026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731520" y="24688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Prédiction intelligente de la qualité de l'air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la résilience climatique et sanitaire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3474720"/>
            <a:ext cx="2286000" cy="36576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dirty="0" err="1" smtClean="0">
                <a:solidFill>
                  <a:srgbClr val="D4A03C"/>
                </a:solidFill>
                <a:latin typeface="Calibri" pitchFamily="34" charset="0"/>
                <a:cs typeface="Calibri" pitchFamily="34" charset="-120"/>
              </a:rPr>
              <a:t>Indabax</a:t>
            </a:r>
            <a:r>
              <a:rPr lang="fr-FR" sz="1400" b="1" dirty="0" smtClean="0">
                <a:solidFill>
                  <a:srgbClr val="D4A03C"/>
                </a:solidFill>
                <a:latin typeface="Calibri" pitchFamily="34" charset="0"/>
                <a:cs typeface="Calibri" pitchFamily="34" charset="-120"/>
              </a:rPr>
              <a:t> Green </a:t>
            </a:r>
            <a:r>
              <a:rPr lang="fr-FR" sz="1400" b="1" dirty="0" err="1" smtClean="0">
                <a:solidFill>
                  <a:srgbClr val="D4A03C"/>
                </a:solidFill>
                <a:latin typeface="Calibri" pitchFamily="34" charset="0"/>
                <a:cs typeface="Calibri" pitchFamily="34" charset="-120"/>
              </a:rPr>
              <a:t>Health</a:t>
            </a:r>
            <a:r>
              <a:rPr lang="fr-FR" sz="1400" b="1" dirty="0" smtClean="0">
                <a:solidFill>
                  <a:srgbClr val="D4A03C"/>
                </a:solidFill>
                <a:latin typeface="Calibri" pitchFamily="34" charset="0"/>
                <a:cs typeface="Calibri" pitchFamily="34" charset="-120"/>
              </a:rPr>
              <a:t> </a:t>
            </a:r>
            <a:r>
              <a:rPr lang="fr-FR" sz="1400" b="1" dirty="0" err="1" smtClean="0">
                <a:solidFill>
                  <a:srgbClr val="D4A03C"/>
                </a:solidFill>
                <a:latin typeface="Calibri" pitchFamily="34" charset="0"/>
                <a:cs typeface="Calibri" pitchFamily="34" charset="-120"/>
              </a:rPr>
              <a:t>Lab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31520" y="4114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7315200" y="109728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87 240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315200" y="146304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315200" y="228600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7315200" y="26517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villes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315200" y="34747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 ans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7315200" y="38404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données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 Problème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Cameroun n'a aucun outil prédictif de qualité de l'air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46304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1463040"/>
            <a:ext cx="2468880" cy="54864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7" name="Shape 5"/>
          <p:cNvSpPr/>
          <p:nvPr/>
        </p:nvSpPr>
        <p:spPr>
          <a:xfrm>
            <a:off x="1508760" y="1737360"/>
            <a:ext cx="731520" cy="731520"/>
          </a:xfrm>
          <a:prstGeom prst="ellipse">
            <a:avLst/>
          </a:prstGeom>
          <a:solidFill>
            <a:srgbClr val="E76F51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5920" y="187452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capteur PM2.5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77724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réseau de mesure de particules fines sur le territoire national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337560" y="146304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337560" y="1463040"/>
            <a:ext cx="246888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3" name="Shape 10"/>
          <p:cNvSpPr/>
          <p:nvPr/>
        </p:nvSpPr>
        <p:spPr>
          <a:xfrm>
            <a:off x="4206240" y="1737360"/>
            <a:ext cx="731520" cy="73152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187452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472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Harmattan meurtrier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47472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Poussières sahariennes de nov. à mars dans le Nord — pics de maladies respiratoires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35040" y="1463040"/>
            <a:ext cx="2468880" cy="25603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035040" y="1463040"/>
            <a:ext cx="2468880" cy="54864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9" name="Shape 15"/>
          <p:cNvSpPr/>
          <p:nvPr/>
        </p:nvSpPr>
        <p:spPr>
          <a:xfrm>
            <a:off x="6903720" y="1737360"/>
            <a:ext cx="731520" cy="731520"/>
          </a:xfrm>
          <a:prstGeom prst="ellipse">
            <a:avLst/>
          </a:prstGeom>
          <a:solidFill>
            <a:srgbClr val="D4A03C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0" y="1874520"/>
            <a:ext cx="457200" cy="4572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172200" y="2651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alerte précoce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6172200" y="306324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hôpitaux subissent les afflux de patients sans aucune anticipation possible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4" name="Text 19"/>
          <p:cNvSpPr/>
          <p:nvPr/>
        </p:nvSpPr>
        <p:spPr>
          <a:xfrm>
            <a:off x="822960" y="434340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13 000+ décès/an liés à la pollution de l'air au Cameroun (OMS)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Notre Solution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piliers complémentaires pour transformer les données météo en action sanitaire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2606040" cy="32004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554480" y="1554480"/>
            <a:ext cx="777240" cy="777240"/>
          </a:xfrm>
          <a:prstGeom prst="ellipse">
            <a:avLst/>
          </a:prstGeom>
          <a:solidFill>
            <a:srgbClr val="1B4332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9928" y="1709928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Proxy PM2.5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77240" y="2880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Indicateur synthétique de pollution construit à partir de 6 variables météo pondérées scientifiquement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1051560" y="3931920"/>
            <a:ext cx="1783080" cy="384048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31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→ 100 points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474720" y="1371600"/>
            <a:ext cx="2606040" cy="32004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89120" y="1554480"/>
            <a:ext cx="777240" cy="777240"/>
          </a:xfrm>
          <a:prstGeom prst="ellipse">
            <a:avLst/>
          </a:prstGeom>
          <a:solidFill>
            <a:srgbClr val="2D6A4F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44568" y="1709928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Moteur IA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611880" y="2880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comparés (Ridge, LightGBM, XGBoost, MLP) avec validation temporelle stricte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3886200" y="3931920"/>
            <a:ext cx="1783080" cy="384048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8" name="Text 14"/>
          <p:cNvSpPr/>
          <p:nvPr/>
        </p:nvSpPr>
        <p:spPr>
          <a:xfrm>
            <a:off x="3886200" y="3931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&gt; 0.80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309360" y="1371600"/>
            <a:ext cx="2606040" cy="32004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223760" y="1554480"/>
            <a:ext cx="777240" cy="777240"/>
          </a:xfrm>
          <a:prstGeom prst="ellipse">
            <a:avLst/>
          </a:prstGeom>
          <a:solidFill>
            <a:srgbClr val="40916C"/>
          </a:solidFill>
          <a:ln/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79208" y="1709928"/>
            <a:ext cx="457200" cy="4572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00800" y="24688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7 onglets</a:t>
            </a:r>
            <a:endParaRPr lang="en-US" sz="1500" dirty="0"/>
          </a:p>
        </p:txBody>
      </p:sp>
      <p:sp>
        <p:nvSpPr>
          <p:cNvPr id="23" name="Text 18"/>
          <p:cNvSpPr/>
          <p:nvPr/>
        </p:nvSpPr>
        <p:spPr>
          <a:xfrm>
            <a:off x="6446520" y="288036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interactive, alertes sanitaires, rose des vents, prévisions 14 jours, export API JSON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6720840" y="3931920"/>
            <a:ext cx="1783080" cy="384048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5" name="Text 20"/>
          <p:cNvSpPr/>
          <p:nvPr/>
        </p:nvSpPr>
        <p:spPr>
          <a:xfrm>
            <a:off x="6720840" y="393192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Prêt à déployer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Construction du Proxy PM2.5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composantes météorologiques → 1 indice de qualité de l'air (0-100)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280160"/>
            <a:ext cx="5120640" cy="50292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280160"/>
            <a:ext cx="54864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7" name="Shape 5"/>
          <p:cNvSpPr/>
          <p:nvPr/>
        </p:nvSpPr>
        <p:spPr>
          <a:xfrm>
            <a:off x="822960" y="1371600"/>
            <a:ext cx="548640" cy="32004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13716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32588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Stagnation du vent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520440" y="132588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 faible → polluants accumulés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1810512"/>
            <a:ext cx="5120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0" y="1810512"/>
            <a:ext cx="54864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1901952"/>
            <a:ext cx="548640" cy="32004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190195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508760" y="1856232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🏔️  Couche limite basse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20440" y="1856232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Atmosphère bouchée → piégeage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2340864"/>
            <a:ext cx="5120640" cy="50292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18" name="Shape 16"/>
          <p:cNvSpPr/>
          <p:nvPr/>
        </p:nvSpPr>
        <p:spPr>
          <a:xfrm>
            <a:off x="640080" y="2340864"/>
            <a:ext cx="54864" cy="50292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9" name="Shape 17"/>
          <p:cNvSpPr/>
          <p:nvPr/>
        </p:nvSpPr>
        <p:spPr>
          <a:xfrm>
            <a:off x="822960" y="2432304"/>
            <a:ext cx="548640" cy="32004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243230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508760" y="2386584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🌧️  Absence de pluie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20440" y="2386584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lessivage atmosphérique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40080" y="2871216"/>
            <a:ext cx="5120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2871216"/>
            <a:ext cx="54864" cy="50292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5" name="Shape 23"/>
          <p:cNvSpPr/>
          <p:nvPr/>
        </p:nvSpPr>
        <p:spPr>
          <a:xfrm>
            <a:off x="822960" y="2962656"/>
            <a:ext cx="548640" cy="320040"/>
          </a:xfrm>
          <a:prstGeom prst="rect">
            <a:avLst/>
          </a:prstGeom>
          <a:solidFill>
            <a:srgbClr val="E76F51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29626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2916936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Chaleur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520440" y="2916936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Réactions photochimiques → ozone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40080" y="3401568"/>
            <a:ext cx="5120640" cy="50292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30" name="Shape 28"/>
          <p:cNvSpPr/>
          <p:nvPr/>
        </p:nvSpPr>
        <p:spPr>
          <a:xfrm>
            <a:off x="640080" y="3401568"/>
            <a:ext cx="54864" cy="50292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1" name="Shape 29"/>
          <p:cNvSpPr/>
          <p:nvPr/>
        </p:nvSpPr>
        <p:spPr>
          <a:xfrm>
            <a:off x="822960" y="3493008"/>
            <a:ext cx="548640" cy="32004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2" name="Text 30"/>
          <p:cNvSpPr/>
          <p:nvPr/>
        </p:nvSpPr>
        <p:spPr>
          <a:xfrm>
            <a:off x="822960" y="349300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508760" y="3447288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💧  Sécheresse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520440" y="344728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sec → poussières en suspension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3931920"/>
            <a:ext cx="5120640" cy="5029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4"/>
          <p:cNvSpPr/>
          <p:nvPr/>
        </p:nvSpPr>
        <p:spPr>
          <a:xfrm>
            <a:off x="640080" y="3931920"/>
            <a:ext cx="54864" cy="5029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7" name="Shape 35"/>
          <p:cNvSpPr/>
          <p:nvPr/>
        </p:nvSpPr>
        <p:spPr>
          <a:xfrm>
            <a:off x="822960" y="4023360"/>
            <a:ext cx="548640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8" name="Text 36"/>
          <p:cNvSpPr/>
          <p:nvPr/>
        </p:nvSpPr>
        <p:spPr>
          <a:xfrm>
            <a:off x="822960" y="40233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1508760" y="397764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☀️  Rayonnement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3520440" y="3977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→ ozone troposphérique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126480" y="12801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Niveaux d'alerte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126480" y="1737360"/>
            <a:ext cx="2560320" cy="475488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43" name="Text 41"/>
          <p:cNvSpPr/>
          <p:nvPr/>
        </p:nvSpPr>
        <p:spPr>
          <a:xfrm>
            <a:off x="6263640" y="173736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7680960" y="173736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126480" y="2331720"/>
            <a:ext cx="2560320" cy="475488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46" name="Text 44"/>
          <p:cNvSpPr/>
          <p:nvPr/>
        </p:nvSpPr>
        <p:spPr>
          <a:xfrm>
            <a:off x="6263640" y="233172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Modéré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680960" y="233172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6126480" y="2926080"/>
            <a:ext cx="2560320" cy="475488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49" name="Text 47"/>
          <p:cNvSpPr/>
          <p:nvPr/>
        </p:nvSpPr>
        <p:spPr>
          <a:xfrm>
            <a:off x="6263640" y="292608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Mauvais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7680960" y="292608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50–70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6126480" y="3520440"/>
            <a:ext cx="2560320" cy="475488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52" name="Text 50"/>
          <p:cNvSpPr/>
          <p:nvPr/>
        </p:nvSpPr>
        <p:spPr>
          <a:xfrm>
            <a:off x="6263640" y="35204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Dangereux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7680960" y="3520440"/>
            <a:ext cx="868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70–100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55" name="Text 53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Normalisation sur le train uniquement — composantes brutes exclues des features (anti-leakage)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du Moteur 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comparés — validation temporelle 2020-2024 (train) vs 2025 (test)</a:t>
            </a:r>
            <a:endParaRPr lang="en-US" sz="13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1280160"/>
          <a:ext cx="411480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029200" y="1325880"/>
            <a:ext cx="3657600" cy="6858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029200" y="1325880"/>
            <a:ext cx="54864" cy="6858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8" name="Text 5"/>
          <p:cNvSpPr/>
          <p:nvPr/>
        </p:nvSpPr>
        <p:spPr>
          <a:xfrm>
            <a:off x="5257800" y="13716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LightGBM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76656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Meilleur modèle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257800" y="16916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029200" y="2148840"/>
            <a:ext cx="3657600" cy="6858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029200" y="2148840"/>
            <a:ext cx="54864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0"/>
          <p:cNvSpPr/>
          <p:nvPr/>
        </p:nvSpPr>
        <p:spPr>
          <a:xfrm>
            <a:off x="5257800" y="219456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&gt; 0.80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6766560" y="219456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test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57800" y="25146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expliquée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0" y="2971800"/>
            <a:ext cx="3657600" cy="6858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029200" y="2971800"/>
            <a:ext cx="54864" cy="68580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18" name="Text 15"/>
          <p:cNvSpPr/>
          <p:nvPr/>
        </p:nvSpPr>
        <p:spPr>
          <a:xfrm>
            <a:off x="5257800" y="301752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0916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Faible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66560" y="30175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257800" y="3337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Erreur quadratique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5029200" y="3794760"/>
            <a:ext cx="3657600" cy="68580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029200" y="3794760"/>
            <a:ext cx="54864" cy="68580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23" name="Text 20"/>
          <p:cNvSpPr/>
          <p:nvPr/>
        </p:nvSpPr>
        <p:spPr>
          <a:xfrm>
            <a:off x="5257800" y="3840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 min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766560" y="38404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total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5257800" y="41605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modèles entraînés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27" name="Text 24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Variables les plus importantes : lags de vent (J-1, J-7), couche limite, précipitations — confirme la mémoire atmosphérique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 &amp; Impact Sociétal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onglets interactifs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4206240" cy="36576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4173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  Carte Mapbox — pollution par ville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4206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18288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Analyse pollution — régions, mois, alertes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240280"/>
            <a:ext cx="4206240" cy="36576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Climat vs Pollution — Harmattan vs Mousson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2651760"/>
            <a:ext cx="4206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6517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Modèle IA — importance des variables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063240"/>
            <a:ext cx="4206240" cy="36576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Prévisions 3-14 jours par ville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474720"/>
            <a:ext cx="420624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 API JSON — prêt pour mobile/SMS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886200"/>
            <a:ext cx="4206240" cy="365760"/>
          </a:xfrm>
          <a:prstGeom prst="rect">
            <a:avLst/>
          </a:prstGeom>
          <a:solidFill>
            <a:srgbClr val="EDF2E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88620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Données filtrables + export CSV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9144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Utilisateurs cibles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212080" y="1417320"/>
            <a:ext cx="3474720" cy="59436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212080" y="1417320"/>
            <a:ext cx="54864" cy="59436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22" name="Text 20"/>
          <p:cNvSpPr/>
          <p:nvPr/>
        </p:nvSpPr>
        <p:spPr>
          <a:xfrm>
            <a:off x="5440680" y="143560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Ministère de la Santé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40680" y="170992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Protocoles d'urgence respiratoire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212080" y="2148840"/>
            <a:ext cx="3474720" cy="59436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212080" y="2148840"/>
            <a:ext cx="54864" cy="5943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6" name="Text 24"/>
          <p:cNvSpPr/>
          <p:nvPr/>
        </p:nvSpPr>
        <p:spPr>
          <a:xfrm>
            <a:off x="5440680" y="216712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Collectivités locales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440680" y="244144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Alertes et communication ciblée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5212080" y="2880360"/>
            <a:ext cx="3474720" cy="59436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212080" y="2880360"/>
            <a:ext cx="54864" cy="594360"/>
          </a:xfrm>
          <a:prstGeom prst="rect">
            <a:avLst/>
          </a:prstGeom>
          <a:solidFill>
            <a:srgbClr val="40916C"/>
          </a:solidFill>
          <a:ln/>
        </p:spPr>
      </p:sp>
      <p:sp>
        <p:nvSpPr>
          <p:cNvPr id="30" name="Text 28"/>
          <p:cNvSpPr/>
          <p:nvPr/>
        </p:nvSpPr>
        <p:spPr>
          <a:xfrm>
            <a:off x="5440680" y="289864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Hôpitaux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317296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Anticiper les afflux de patients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212080" y="3611880"/>
            <a:ext cx="3474720" cy="594360"/>
          </a:xfrm>
          <a:prstGeom prst="rect">
            <a:avLst/>
          </a:prstGeom>
          <a:solidFill>
            <a:srgbClr val="EDF2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212080" y="3611880"/>
            <a:ext cx="54864" cy="59436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34" name="Text 32"/>
          <p:cNvSpPr/>
          <p:nvPr/>
        </p:nvSpPr>
        <p:spPr>
          <a:xfrm>
            <a:off x="5440680" y="36301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Population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440680" y="3904488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: niveau du jour + conseils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40080" y="4434840"/>
            <a:ext cx="7863840" cy="502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" y="44348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Bonus : Système d'alerte sanitaire par région  •  Score de risque par ville  •  API REST  •  PWA mobile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03C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972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Pourquoi nous choisir ?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640080" y="1965960"/>
            <a:ext cx="3794760" cy="868680"/>
          </a:xfrm>
          <a:prstGeom prst="rect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Chaîne complète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2296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→ Proxy → Modèle → Dashboard → API → Mobile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663440" y="1965960"/>
            <a:ext cx="3794760" cy="868680"/>
          </a:xfrm>
          <a:prstGeom prst="rect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4846320" y="203911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Déployable maintenant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46320" y="237744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Cloud en 5 min, pas d'infrastructure coûteuse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" y="3063240"/>
            <a:ext cx="3794760" cy="868680"/>
          </a:xfrm>
          <a:prstGeom prst="rect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136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Explicable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822960" y="3474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composante a un sens physique, compréhensible par des non-techniciens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663440" y="3063240"/>
            <a:ext cx="3794760" cy="868680"/>
          </a:xfrm>
          <a:prstGeom prst="rect">
            <a:avLst/>
          </a:prstGeom>
          <a:solidFill>
            <a:srgbClr val="2D6A4F">
              <a:alpha val="60000"/>
            </a:srgbClr>
          </a:solidFill>
          <a:ln/>
        </p:spPr>
      </p:sp>
      <p:sp>
        <p:nvSpPr>
          <p:cNvPr id="15" name="Text 12"/>
          <p:cNvSpPr/>
          <p:nvPr/>
        </p:nvSpPr>
        <p:spPr>
          <a:xfrm>
            <a:off x="4846320" y="3136392"/>
            <a:ext cx="3429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0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Réplicable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846320" y="3474720"/>
            <a:ext cx="3429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Transposable à tout pays sans réseau de capteurs (Tchad, Niger, RCA...)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286000" y="4206240"/>
            <a:ext cx="4572000" cy="594360"/>
          </a:xfrm>
          <a:prstGeom prst="rect">
            <a:avLst/>
          </a:prstGeom>
          <a:solidFill>
            <a:srgbClr val="D4A03C"/>
          </a:solidFill>
          <a:ln/>
        </p:spPr>
      </p:sp>
      <p:sp>
        <p:nvSpPr>
          <p:cNvPr id="18" name="Text 15"/>
          <p:cNvSpPr/>
          <p:nvPr/>
        </p:nvSpPr>
        <p:spPr>
          <a:xfrm>
            <a:off x="2286000" y="420624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4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L'IA au service de la résilience climatique et sanitaire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532</Words>
  <Application>Microsoft Office PowerPoint</Application>
  <PresentationFormat>Affichage à l'écran (16:9)</PresentationFormat>
  <Paragraphs>112</Paragraphs>
  <Slides>7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AirWatch Cameroun — Prédiction de la Qualité de l'Air</dc:title>
  <dc:subject>PptxGenJS Presentation</dc:subject>
  <dc:creator>Équipe Hackathon IndabaX 2026</dc:creator>
  <cp:lastModifiedBy>hp</cp:lastModifiedBy>
  <cp:revision>2</cp:revision>
  <dcterms:created xsi:type="dcterms:W3CDTF">2026-04-07T00:19:34Z</dcterms:created>
  <dcterms:modified xsi:type="dcterms:W3CDTF">2026-04-07T00:33:32Z</dcterms:modified>
</cp:coreProperties>
</file>